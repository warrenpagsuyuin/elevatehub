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45272-C347-4A9B-98AC-B0EAA43C8A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49E13-4469-42EB-84ED-E53A5AFFC4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18DD-F4D8-400C-99F1-32052CE9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AAAF6-633C-47E0-8CE0-18D2F9ABF6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91CF0-EE45-4099-83FE-558FDE585B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ABE2-ABDE-4248-99D7-F539F787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/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E427D-AAD7-4320-BD96-D182DEE0E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D22B-325F-42D2-B6C0-E372CACC8D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127E4-3096-45E3-A722-F1EC66FCED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0208-18F7-41CC-94CE-72DEF520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F578-0DCA-4033-8060-6938989789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F3CC6-5FE9-4815-A25C-293BB64ECB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1C8D-31F6-4139-AF32-3E50CC7E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6BA28-D8BD-4280-BEC8-63B81D9E1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BF258-2538-4BFC-B202-ED2514F456B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57539-66F1-442E-8CEF-7966C9FBDD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ECA4-0E7B-4881-93DD-4E7E645DA7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375B-E275-4688-9B7A-2FB30A87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95FF6-DC71-4F56-A6EE-1024C9D414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8CEB1-48D5-4D3A-93EC-18E6DE43AD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725157-2A0A-41BB-8ED5-A47B5BF5C0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4E911-C7A0-4C7B-B603-01D2A8E953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BE4F-EAE7-44B7-8429-B4367217F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1608F-A2EB-4642-A52C-2557699583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6D409-5E1D-4CC9-9A44-6408C7648A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6E549-B53E-4615-880B-0A6DA14EC2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6189-388D-4C0A-819F-6CA4D780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9F1DC-69B1-4666-9D73-758BFF0E5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514A3-97F2-4F8B-8C6D-DB8A11FCDC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0B718-463C-46B9-863F-A385A98D77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240B1-ED5C-45D4-B7D1-0E3AB9C08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82C45-9196-4476-9390-4B4AF679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06D76-F54A-4D09-864F-43A49E171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A0E33-0DDE-47CB-A92E-7220E77C3A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5CD6F-F2DE-43EA-8C84-D4FC691B89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1E63A-EF6B-4B60-8E97-D7AC9C3B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168C8-1217-4CF9-A8A1-5943D345D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8C80F-24F6-4126-B2F1-14B119690F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4F201-1CD3-498E-930C-20EE6E7A6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D2FE0B-50A7-4A20-AC47-B0F1D3ED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03FD7-B3F6-46F3-A2C8-DDFA09A4A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D164A-C127-4D91-88FA-8B39C8BE758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1DCD8-9B15-40C1-856F-FE0DAA7D6DF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E9FB-8B7F-4FE6-9837-A39D4A17D55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6D2CDE-BFF6-4F92-8F92-67F130B3DC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10A33-75FE-4B0F-9C01-F32B6E5DD63C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4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ELEVATE</a:t>
            </a:r>
          </a:p>
          <a:p>
            <a:pPr algn="l">
              <a:buNone/>
            </a:pPr>
            <a:r>
              <a:rPr sz="4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DGM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F3801-1DB2-4A93-B13D-B45134E8244C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8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Thesis Final 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740CC-CD21-4FA8-BE32-A8399841EF03}"/>
              </a:ext>
            </a:extLst>
          </p:cNvPr>
          <p:cNvSpPr>
            <a:spLocks noGrp="1"/>
          </p:cNvSpPr>
          <p:nvPr/>
        </p:nvSpPr>
        <p:spPr>
          <a:xfrm>
            <a:off x="4754880" y="1737360"/>
            <a:ext cx="6949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Elevate Discipleship Group Management System: Predictive Analytics and Sentiment Analysis for Seeker Tracking and Member Engagement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5ECB12-C173-4B16-B5AD-574263759BC9}"/>
              </a:ext>
            </a:extLst>
          </p:cNvPr>
          <p:cNvSpPr>
            <a:spLocks noGrp="1"/>
          </p:cNvSpPr>
          <p:nvPr/>
        </p:nvSpPr>
        <p:spPr>
          <a:xfrm>
            <a:off x="4754880" y="434340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F3157-FF96-4CE2-AD93-954DD6B3E8CE}"/>
              </a:ext>
            </a:extLst>
          </p:cNvPr>
          <p:cNvSpPr>
            <a:spLocks noGrp="1"/>
          </p:cNvSpPr>
          <p:nvPr/>
        </p:nvSpPr>
        <p:spPr>
          <a:xfrm>
            <a:off x="4754880" y="4572000"/>
            <a:ext cx="6949440" cy="131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Researchers: David Andrei R. Alvis  •  Warren V. Pagsuyuin  •  Xerxes Jan R. Torralba</a:t>
            </a:r>
          </a:p>
          <a:p>
            <a:pPr algn="l">
              <a:buNone/>
            </a:pPr>
            <a:r>
              <a:rPr sz="16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Adviser: Riegie D. Tan, DIT</a:t>
            </a:r>
          </a:p>
          <a:p>
            <a:pPr algn="l">
              <a:buNone/>
            </a:pPr>
            <a:r>
              <a:rPr sz="16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Bachelor of Science in Computer Science  •  Pamantasan ng Lungsod ng Pasig  •  August 2026</a:t>
            </a:r>
          </a:p>
        </p:txBody>
      </p:sp>
    </p:spTree>
    <p:extLst>
      <p:ext uri="{BB962C8B-B14F-4D97-AF65-F5344CB8AC3E}">
        <p14:creationId xmlns:p14="http://schemas.microsoft.com/office/powerpoint/2010/main" val="1071938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9FB6B-231D-40B1-9062-0C585C0430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8A572-2784-4A74-9C00-C69751266A21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3271D-FD0D-44FF-8D72-3DF961A0FF78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Presentation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95824-02C4-4BCF-93DF-28526E13F7DA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36E7A-EDA1-4964-B9FC-8921832B3AEE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87414B-0E35-4D42-8DF5-34AECD4B0818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6FD3235-9EE6-40CD-97C9-2BF093C4028C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CD805-E832-4B6B-B0DE-E47F592FB42B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A0AF2-8A9B-42B7-81F6-1C0D9F025D4A}"/>
              </a:ext>
            </a:extLst>
          </p:cNvPr>
          <p:cNvSpPr>
            <a:spLocks noGrp="1"/>
          </p:cNvSpPr>
          <p:nvPr/>
        </p:nvSpPr>
        <p:spPr>
          <a:xfrm>
            <a:off x="1645920" y="184708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Introduce the Group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81A17F-637F-471A-9D26-A6233C041F5E}"/>
              </a:ext>
            </a:extLst>
          </p:cNvPr>
          <p:cNvSpPr>
            <a:spLocks noGrp="1"/>
          </p:cNvSpPr>
          <p:nvPr/>
        </p:nvSpPr>
        <p:spPr>
          <a:xfrm>
            <a:off x="1645920" y="226771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researchers behind the study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DE95BD-03DC-41BE-B5F2-55B02ADB5545}"/>
              </a:ext>
            </a:extLst>
          </p:cNvPr>
          <p:cNvSpPr>
            <a:spLocks noGrp="1"/>
          </p:cNvSpPr>
          <p:nvPr/>
        </p:nvSpPr>
        <p:spPr>
          <a:xfrm>
            <a:off x="6309360" y="182880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11817-C061-4434-931F-2A96B7CF40C7}"/>
              </a:ext>
            </a:extLst>
          </p:cNvPr>
          <p:cNvSpPr>
            <a:spLocks noGrp="1"/>
          </p:cNvSpPr>
          <p:nvPr/>
        </p:nvSpPr>
        <p:spPr>
          <a:xfrm>
            <a:off x="6309360" y="18288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EC76D8-2A9C-43D8-829D-FB5D20AF86D1}"/>
              </a:ext>
            </a:extLst>
          </p:cNvPr>
          <p:cNvSpPr>
            <a:spLocks noGrp="1"/>
          </p:cNvSpPr>
          <p:nvPr/>
        </p:nvSpPr>
        <p:spPr>
          <a:xfrm>
            <a:off x="7315200" y="184708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Introduce the Research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D39B7F-E695-4675-96E2-90820EBA7ECF}"/>
              </a:ext>
            </a:extLst>
          </p:cNvPr>
          <p:cNvSpPr>
            <a:spLocks noGrp="1"/>
          </p:cNvSpPr>
          <p:nvPr/>
        </p:nvSpPr>
        <p:spPr>
          <a:xfrm>
            <a:off x="7315200" y="226771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Background, purpose and scope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A3027F9-1D90-4E15-89B9-4C91FFAAFE98}"/>
              </a:ext>
            </a:extLst>
          </p:cNvPr>
          <p:cNvSpPr>
            <a:spLocks noGrp="1"/>
          </p:cNvSpPr>
          <p:nvPr/>
        </p:nvSpPr>
        <p:spPr>
          <a:xfrm>
            <a:off x="640080" y="329184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B9140C-A249-4E05-9E2C-FCB422354889}"/>
              </a:ext>
            </a:extLst>
          </p:cNvPr>
          <p:cNvSpPr>
            <a:spLocks noGrp="1"/>
          </p:cNvSpPr>
          <p:nvPr/>
        </p:nvSpPr>
        <p:spPr>
          <a:xfrm>
            <a:off x="640080" y="32918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9578AF-A40C-44BF-87D8-BD0657123B00}"/>
              </a:ext>
            </a:extLst>
          </p:cNvPr>
          <p:cNvSpPr>
            <a:spLocks noGrp="1"/>
          </p:cNvSpPr>
          <p:nvPr/>
        </p:nvSpPr>
        <p:spPr>
          <a:xfrm>
            <a:off x="1645920" y="33101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8C8FF1-C7DC-421D-B6A2-A0FC4D55F3CD}"/>
              </a:ext>
            </a:extLst>
          </p:cNvPr>
          <p:cNvSpPr>
            <a:spLocks noGrp="1"/>
          </p:cNvSpPr>
          <p:nvPr/>
        </p:nvSpPr>
        <p:spPr>
          <a:xfrm>
            <a:off x="1645920" y="373075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Nine research questions and the evidence for each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AFE4D9-288D-42A4-960C-6D9D117A6AE5}"/>
              </a:ext>
            </a:extLst>
          </p:cNvPr>
          <p:cNvSpPr>
            <a:spLocks noGrp="1"/>
          </p:cNvSpPr>
          <p:nvPr/>
        </p:nvSpPr>
        <p:spPr>
          <a:xfrm>
            <a:off x="6309360" y="3291840"/>
            <a:ext cx="822960" cy="82296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57D02-0BF5-4ED6-B330-0A527E5ABE82}"/>
              </a:ext>
            </a:extLst>
          </p:cNvPr>
          <p:cNvSpPr>
            <a:spLocks noGrp="1"/>
          </p:cNvSpPr>
          <p:nvPr/>
        </p:nvSpPr>
        <p:spPr>
          <a:xfrm>
            <a:off x="6309360" y="32918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46518-B20C-47C9-A2FF-27CB762B4744}"/>
              </a:ext>
            </a:extLst>
          </p:cNvPr>
          <p:cNvSpPr>
            <a:spLocks noGrp="1"/>
          </p:cNvSpPr>
          <p:nvPr/>
        </p:nvSpPr>
        <p:spPr>
          <a:xfrm>
            <a:off x="7315200" y="33101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70F496-4A49-4BF7-A579-D6915E37BEFB}"/>
              </a:ext>
            </a:extLst>
          </p:cNvPr>
          <p:cNvSpPr>
            <a:spLocks noGrp="1"/>
          </p:cNvSpPr>
          <p:nvPr/>
        </p:nvSpPr>
        <p:spPr>
          <a:xfrm>
            <a:off x="7315200" y="373075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What the research results establish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82F9F3-8D9B-4C4F-BED8-54D2555CFDE0}"/>
              </a:ext>
            </a:extLst>
          </p:cNvPr>
          <p:cNvSpPr>
            <a:spLocks noGrp="1"/>
          </p:cNvSpPr>
          <p:nvPr/>
        </p:nvSpPr>
        <p:spPr>
          <a:xfrm>
            <a:off x="640080" y="475488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2D2EC1-5869-4CBF-9628-57C77C29ECCC}"/>
              </a:ext>
            </a:extLst>
          </p:cNvPr>
          <p:cNvSpPr>
            <a:spLocks noGrp="1"/>
          </p:cNvSpPr>
          <p:nvPr/>
        </p:nvSpPr>
        <p:spPr>
          <a:xfrm>
            <a:off x="640080" y="4754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5B3D04-D1BA-4277-885B-79C4210AF1FE}"/>
              </a:ext>
            </a:extLst>
          </p:cNvPr>
          <p:cNvSpPr>
            <a:spLocks noGrp="1"/>
          </p:cNvSpPr>
          <p:nvPr/>
        </p:nvSpPr>
        <p:spPr>
          <a:xfrm>
            <a:off x="1645920" y="477316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Recommendations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A5C5E9-7F6C-4DF3-B5E1-E03CC6C62E0F}"/>
              </a:ext>
            </a:extLst>
          </p:cNvPr>
          <p:cNvSpPr>
            <a:spLocks noGrp="1"/>
          </p:cNvSpPr>
          <p:nvPr/>
        </p:nvSpPr>
        <p:spPr>
          <a:xfrm>
            <a:off x="1645920" y="51937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Actions for the ministry and future research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4E3C72-FF84-490A-8B32-E723FFE25DF8}"/>
              </a:ext>
            </a:extLst>
          </p:cNvPr>
          <p:cNvSpPr>
            <a:spLocks noGrp="1"/>
          </p:cNvSpPr>
          <p:nvPr/>
        </p:nvSpPr>
        <p:spPr>
          <a:xfrm>
            <a:off x="6309360" y="4754880"/>
            <a:ext cx="822960" cy="82296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805815-B234-4372-9D59-8CEA0F7C137C}"/>
              </a:ext>
            </a:extLst>
          </p:cNvPr>
          <p:cNvSpPr>
            <a:spLocks noGrp="1"/>
          </p:cNvSpPr>
          <p:nvPr/>
        </p:nvSpPr>
        <p:spPr>
          <a:xfrm>
            <a:off x="6309360" y="4754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1C2534-A4FE-4ADC-9D6D-54416068BDA1}"/>
              </a:ext>
            </a:extLst>
          </p:cNvPr>
          <p:cNvSpPr>
            <a:spLocks noGrp="1"/>
          </p:cNvSpPr>
          <p:nvPr/>
        </p:nvSpPr>
        <p:spPr>
          <a:xfrm>
            <a:off x="7315200" y="477316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Questions &amp; Answers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1668AF-54C5-46A9-B879-A75E8516CC1F}"/>
              </a:ext>
            </a:extLst>
          </p:cNvPr>
          <p:cNvSpPr>
            <a:spLocks noGrp="1"/>
          </p:cNvSpPr>
          <p:nvPr/>
        </p:nvSpPr>
        <p:spPr>
          <a:xfrm>
            <a:off x="7315200" y="51937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8976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2A1E8F-6A99-4B85-80B0-DBC11CA9DA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3CC86-02EC-4FCE-B388-4B46F6CA57B9}"/>
              </a:ext>
            </a:extLst>
          </p:cNvPr>
          <p:cNvSpPr>
            <a:spLocks noGrp="1"/>
          </p:cNvSpPr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7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33970-CA54-4426-B0E8-921068F45BE2}"/>
              </a:ext>
            </a:extLst>
          </p:cNvPr>
          <p:cNvSpPr>
            <a:spLocks noGrp="1"/>
          </p:cNvSpPr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4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Introduce the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6036-E1BA-44E4-A618-E5EC5A49DD16}"/>
              </a:ext>
            </a:extLst>
          </p:cNvPr>
          <p:cNvSpPr>
            <a:spLocks noGrp="1"/>
          </p:cNvSpPr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Meet the researchers</a:t>
            </a:r>
          </a:p>
        </p:txBody>
      </p:sp>
    </p:spTree>
    <p:extLst>
      <p:ext uri="{BB962C8B-B14F-4D97-AF65-F5344CB8AC3E}">
        <p14:creationId xmlns:p14="http://schemas.microsoft.com/office/powerpoint/2010/main" val="13076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5CBD12-90FA-417E-81E1-84FF47A82C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87483-90B9-415F-8940-9FE20C46D321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INTRODUCE THE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668B0-0250-4D0A-9AF5-FAB4BCC084A0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Research 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89B1A-FF74-42FD-B5AB-472BB5B80662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9D7CD-7C12-46E1-89FE-B382C27C6F41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2D47D5-5EAD-459A-B3B8-50AAA843A12F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5E308B-AD26-4F88-AA52-756715200E98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E6C2B7-96E0-4A8B-AF2C-3FC48197B4FD}"/>
              </a:ext>
            </a:extLst>
          </p:cNvPr>
          <p:cNvSpPr>
            <a:spLocks noGrp="1"/>
          </p:cNvSpPr>
          <p:nvPr/>
        </p:nvSpPr>
        <p:spPr>
          <a:xfrm>
            <a:off x="1417320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51D90-7665-499C-9BDA-35B737CB0B59}"/>
              </a:ext>
            </a:extLst>
          </p:cNvPr>
          <p:cNvSpPr>
            <a:spLocks noGrp="1"/>
          </p:cNvSpPr>
          <p:nvPr/>
        </p:nvSpPr>
        <p:spPr>
          <a:xfrm>
            <a:off x="1417320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A09F5-C7FE-4028-B41B-4600CD7B930B}"/>
              </a:ext>
            </a:extLst>
          </p:cNvPr>
          <p:cNvSpPr>
            <a:spLocks noGrp="1"/>
          </p:cNvSpPr>
          <p:nvPr/>
        </p:nvSpPr>
        <p:spPr>
          <a:xfrm>
            <a:off x="731520" y="35204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David Andrei R. Alvis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08A21E-6113-4A30-9246-E3D26E4F4B3E}"/>
              </a:ext>
            </a:extLst>
          </p:cNvPr>
          <p:cNvSpPr>
            <a:spLocks noGrp="1"/>
          </p:cNvSpPr>
          <p:nvPr/>
        </p:nvSpPr>
        <p:spPr>
          <a:xfrm>
            <a:off x="731520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Researcher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A23455-10DA-4FEE-8DC6-49EFFD74AFAB}"/>
              </a:ext>
            </a:extLst>
          </p:cNvPr>
          <p:cNvSpPr>
            <a:spLocks noGrp="1"/>
          </p:cNvSpPr>
          <p:nvPr/>
        </p:nvSpPr>
        <p:spPr>
          <a:xfrm>
            <a:off x="3429000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1FD2E9-B7DD-4BD7-9DD2-127C9AB846EA}"/>
              </a:ext>
            </a:extLst>
          </p:cNvPr>
          <p:cNvSpPr>
            <a:spLocks noGrp="1"/>
          </p:cNvSpPr>
          <p:nvPr/>
        </p:nvSpPr>
        <p:spPr>
          <a:xfrm>
            <a:off x="4206240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9CE53-A4F1-4F2C-A147-5690B83CA6B4}"/>
              </a:ext>
            </a:extLst>
          </p:cNvPr>
          <p:cNvSpPr>
            <a:spLocks noGrp="1"/>
          </p:cNvSpPr>
          <p:nvPr/>
        </p:nvSpPr>
        <p:spPr>
          <a:xfrm>
            <a:off x="4206240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488E12-6091-4ADE-9228-B5B54B2F6801}"/>
              </a:ext>
            </a:extLst>
          </p:cNvPr>
          <p:cNvSpPr>
            <a:spLocks noGrp="1"/>
          </p:cNvSpPr>
          <p:nvPr/>
        </p:nvSpPr>
        <p:spPr>
          <a:xfrm>
            <a:off x="3520440" y="35204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Warren V. Pagsuyuin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7269A4-9B67-4046-B3B0-3121B84E6218}"/>
              </a:ext>
            </a:extLst>
          </p:cNvPr>
          <p:cNvSpPr>
            <a:spLocks noGrp="1"/>
          </p:cNvSpPr>
          <p:nvPr/>
        </p:nvSpPr>
        <p:spPr>
          <a:xfrm>
            <a:off x="3520440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Researcher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164659-BFF5-4172-A82E-194247F527B0}"/>
              </a:ext>
            </a:extLst>
          </p:cNvPr>
          <p:cNvSpPr>
            <a:spLocks noGrp="1"/>
          </p:cNvSpPr>
          <p:nvPr/>
        </p:nvSpPr>
        <p:spPr>
          <a:xfrm>
            <a:off x="6217920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9E30AC-2511-45F1-B998-B6A196B2A69D}"/>
              </a:ext>
            </a:extLst>
          </p:cNvPr>
          <p:cNvSpPr>
            <a:spLocks noGrp="1"/>
          </p:cNvSpPr>
          <p:nvPr/>
        </p:nvSpPr>
        <p:spPr>
          <a:xfrm>
            <a:off x="6995160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59946C-00A4-495D-B1C0-409E2AFC9467}"/>
              </a:ext>
            </a:extLst>
          </p:cNvPr>
          <p:cNvSpPr>
            <a:spLocks noGrp="1"/>
          </p:cNvSpPr>
          <p:nvPr/>
        </p:nvSpPr>
        <p:spPr>
          <a:xfrm>
            <a:off x="6995160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09158B-C000-48E5-ACD7-C7AE2790E212}"/>
              </a:ext>
            </a:extLst>
          </p:cNvPr>
          <p:cNvSpPr>
            <a:spLocks noGrp="1"/>
          </p:cNvSpPr>
          <p:nvPr/>
        </p:nvSpPr>
        <p:spPr>
          <a:xfrm>
            <a:off x="6309360" y="35204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Xerxes Jan R. Torralba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45BBC-604C-49C9-98DF-90B9EE4A68C5}"/>
              </a:ext>
            </a:extLst>
          </p:cNvPr>
          <p:cNvSpPr>
            <a:spLocks noGrp="1"/>
          </p:cNvSpPr>
          <p:nvPr/>
        </p:nvSpPr>
        <p:spPr>
          <a:xfrm>
            <a:off x="6309360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Researcher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30D83DC-DA03-4B88-966A-ED5482F34718}"/>
              </a:ext>
            </a:extLst>
          </p:cNvPr>
          <p:cNvSpPr>
            <a:spLocks noGrp="1"/>
          </p:cNvSpPr>
          <p:nvPr/>
        </p:nvSpPr>
        <p:spPr>
          <a:xfrm>
            <a:off x="9006839" y="192024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601149-9C99-4117-BBAB-926826387CA1}"/>
              </a:ext>
            </a:extLst>
          </p:cNvPr>
          <p:cNvSpPr>
            <a:spLocks noGrp="1"/>
          </p:cNvSpPr>
          <p:nvPr/>
        </p:nvSpPr>
        <p:spPr>
          <a:xfrm>
            <a:off x="9784079" y="2240280"/>
            <a:ext cx="1005840" cy="10058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AF6192-FD9B-4096-AF98-5D4C03D308E5}"/>
              </a:ext>
            </a:extLst>
          </p:cNvPr>
          <p:cNvSpPr>
            <a:spLocks noGrp="1"/>
          </p:cNvSpPr>
          <p:nvPr/>
        </p:nvSpPr>
        <p:spPr>
          <a:xfrm>
            <a:off x="9784079" y="224028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FE377E-D5F1-4188-AD29-9757E19DDAFB}"/>
              </a:ext>
            </a:extLst>
          </p:cNvPr>
          <p:cNvSpPr>
            <a:spLocks noGrp="1"/>
          </p:cNvSpPr>
          <p:nvPr/>
        </p:nvSpPr>
        <p:spPr>
          <a:xfrm>
            <a:off x="9098279" y="3520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Riegie D. Tan, DIT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AC21E6-671A-43BA-B204-096E5341D1D1}"/>
              </a:ext>
            </a:extLst>
          </p:cNvPr>
          <p:cNvSpPr>
            <a:spLocks noGrp="1"/>
          </p:cNvSpPr>
          <p:nvPr/>
        </p:nvSpPr>
        <p:spPr>
          <a:xfrm>
            <a:off x="9098279" y="40690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Research Adviser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871BE9-6BBA-4261-9B1D-31B99A4A83A8}"/>
              </a:ext>
            </a:extLst>
          </p:cNvPr>
          <p:cNvSpPr>
            <a:spLocks noGrp="1"/>
          </p:cNvSpPr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Bachelor of Science in Computer Science  •  Pamantasan ng Lungsod ng Pasig</a:t>
            </a:r>
          </a:p>
        </p:txBody>
      </p:sp>
    </p:spTree>
    <p:extLst>
      <p:ext uri="{BB962C8B-B14F-4D97-AF65-F5344CB8AC3E}">
        <p14:creationId xmlns:p14="http://schemas.microsoft.com/office/powerpoint/2010/main" val="194438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B13384-13C3-4849-8AE2-407DC712DA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65DBE-FD8C-4412-9F3A-0B837E07C502}"/>
              </a:ext>
            </a:extLst>
          </p:cNvPr>
          <p:cNvSpPr>
            <a:spLocks noGrp="1"/>
          </p:cNvSpPr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7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3BE0C-2908-4328-8284-DD5EB5FDCAA8}"/>
              </a:ext>
            </a:extLst>
          </p:cNvPr>
          <p:cNvSpPr>
            <a:spLocks noGrp="1"/>
          </p:cNvSpPr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4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Introduce the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94E69-0035-4974-ADA8-0F776E7CAE5E}"/>
              </a:ext>
            </a:extLst>
          </p:cNvPr>
          <p:cNvSpPr>
            <a:spLocks noGrp="1"/>
          </p:cNvSpPr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Elevate Discipleship Group Management System: Predictive Analytics and Sentiment Analysis for Seeker Tracking and Member Engagement</a:t>
            </a:r>
          </a:p>
        </p:txBody>
      </p:sp>
    </p:spTree>
    <p:extLst>
      <p:ext uri="{BB962C8B-B14F-4D97-AF65-F5344CB8AC3E}">
        <p14:creationId xmlns:p14="http://schemas.microsoft.com/office/powerpoint/2010/main" val="156298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2578D-A5A3-4812-85C2-A5764BB9B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2CDF6-4773-4715-ACF7-7321FE6AA52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INTRODUCE THE 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CE549-2156-4538-AB49-F7DEA2955091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Background of the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80166-0BBF-4C95-A0FA-B56B8134EFF7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68842-B366-4D3B-86B4-9377279A9A9A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B3E47-39E9-42BC-BC08-4C099DF07DAF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37A98-876C-487F-9927-925C31192C7D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The selected CCF Elevate unit relied on spreadsheets, forms, messaging applications and manual reports.</a:t>
            </a:r>
          </a:p>
          <a:p>
            <a:pPr>
              <a:spcAft>
                <a:spcPts val="10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Five stakeholder interviews described fragmented records, inconsistent or incomplete updates, and repeated validation.</a:t>
            </a:r>
          </a:p>
          <a:p>
            <a:pPr>
              <a:spcAft>
                <a:spcPts val="10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Follow-up progress and member participation were difficult to monitor consistently.</a:t>
            </a:r>
          </a:p>
          <a:p>
            <a:pPr>
              <a:spcAft>
                <a:spcPts val="10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District and satellite reports required manual consolidation.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84D085-9D06-440C-B00B-F3ABD73393BB}"/>
              </a:ext>
            </a:extLst>
          </p:cNvPr>
          <p:cNvSpPr>
            <a:spLocks noGrp="1"/>
          </p:cNvSpPr>
          <p:nvPr/>
        </p:nvSpPr>
        <p:spPr>
          <a:xfrm>
            <a:off x="6949440" y="1828800"/>
            <a:ext cx="4572000" cy="402336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F8D68-18CC-4B45-824E-136617D107AE}"/>
              </a:ext>
            </a:extLst>
          </p:cNvPr>
          <p:cNvSpPr>
            <a:spLocks noGrp="1"/>
          </p:cNvSpPr>
          <p:nvPr/>
        </p:nvSpPr>
        <p:spPr>
          <a:xfrm>
            <a:off x="6949440" y="1828800"/>
            <a:ext cx="73152" cy="402336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179C02-F10B-4CA1-8ABF-0EEDA8BCD449}"/>
              </a:ext>
            </a:extLst>
          </p:cNvPr>
          <p:cNvSpPr>
            <a:spLocks noGrp="1"/>
          </p:cNvSpPr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Purpose of the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E39B0-CD94-46B7-8929-9A8CA5DBD44E}"/>
              </a:ext>
            </a:extLst>
          </p:cNvPr>
          <p:cNvSpPr>
            <a:spLocks noGrp="1"/>
          </p:cNvSpPr>
          <p:nvPr/>
        </p:nvSpPr>
        <p:spPr>
          <a:xfrm>
            <a:off x="7223760" y="251460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study designed, developed and evaluated a role-based DGM system to centralize seeker and member records, track follow-ups, support engagement review, explain analytical outputs, analyze consented system feedback, and improve reporting. Its analytics are decision support for authorized leaders, not automated judgments about people.</a:t>
            </a:r>
          </a:p>
        </p:txBody>
      </p:sp>
    </p:spTree>
    <p:extLst>
      <p:ext uri="{BB962C8B-B14F-4D97-AF65-F5344CB8AC3E}">
        <p14:creationId xmlns:p14="http://schemas.microsoft.com/office/powerpoint/2010/main" val="183831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F209AB-DCF9-4BB5-94A0-947A4B8CAD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EE1AD-1A0E-4D01-8557-5BC14C84AE73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INTRODUCE THE 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F7B66-AD26-4F3B-8EA7-5E96C6F50809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Scope of the Research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53FFA-A38F-4E9C-AF44-19A20527697E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1613D-FA1B-4E2E-B7D3-DE112F4E321B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5D53F-A0BC-4751-B418-EF966C4CED8C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BE6660-1B79-4893-90BB-77A3D11C5C72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485270-4CF2-4B77-BCAB-79FFF33577B9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BF8C2-ED98-4ADF-9706-A9BA713BA2CB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Records &amp;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70D94-4C79-451E-B937-82F0192F82C2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Centralized seeker, member, satellite and D-Group records with role-scoped access, dashboards and reports.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C25DBC-32B6-4ECB-9E3E-1E928BB3DB4D}"/>
              </a:ext>
            </a:extLst>
          </p:cNvPr>
          <p:cNvSpPr>
            <a:spLocks noGrp="1"/>
          </p:cNvSpPr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EFB364-C5FB-449C-8937-9088605E21BC}"/>
              </a:ext>
            </a:extLst>
          </p:cNvPr>
          <p:cNvSpPr>
            <a:spLocks noGrp="1"/>
          </p:cNvSpPr>
          <p:nvPr/>
        </p:nvSpPr>
        <p:spPr>
          <a:xfrm>
            <a:off x="6217920" y="182880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C19F8-3158-4383-8595-E0BA10CD3C19}"/>
              </a:ext>
            </a:extLst>
          </p:cNvPr>
          <p:cNvSpPr>
            <a:spLocks noGrp="1"/>
          </p:cNvSpPr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Seeker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74590A-D7B0-41CE-BBC7-727741B1A89A}"/>
              </a:ext>
            </a:extLst>
          </p:cNvPr>
          <p:cNvSpPr>
            <a:spLocks noGrp="1"/>
          </p:cNvSpPr>
          <p:nvPr/>
        </p:nvSpPr>
        <p:spPr>
          <a:xfrm>
            <a:off x="6492240" y="251460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Source tracking, registration sync, leader assignment, follow-up history, outcomes and archiving.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445C29-52DA-427D-AD87-E17AFA960F90}"/>
              </a:ext>
            </a:extLst>
          </p:cNvPr>
          <p:cNvSpPr>
            <a:spLocks noGrp="1"/>
          </p:cNvSpPr>
          <p:nvPr/>
        </p:nvSpPr>
        <p:spPr>
          <a:xfrm>
            <a:off x="640080" y="3931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107CD7-003A-417C-AD70-53A5FF77B693}"/>
              </a:ext>
            </a:extLst>
          </p:cNvPr>
          <p:cNvSpPr>
            <a:spLocks noGrp="1"/>
          </p:cNvSpPr>
          <p:nvPr/>
        </p:nvSpPr>
        <p:spPr>
          <a:xfrm>
            <a:off x="640080" y="393192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CD198D-330E-49A2-8E6A-A75B77F926D2}"/>
              </a:ext>
            </a:extLst>
          </p:cNvPr>
          <p:cNvSpPr>
            <a:spLocks noGrp="1"/>
          </p:cNvSpPr>
          <p:nvPr/>
        </p:nvSpPr>
        <p:spPr>
          <a:xfrm>
            <a:off x="914400" y="4114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Decision Support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492F4-580C-4977-9222-AE614E7CF29A}"/>
              </a:ext>
            </a:extLst>
          </p:cNvPr>
          <p:cNvSpPr>
            <a:spLocks noGrp="1"/>
          </p:cNvSpPr>
          <p:nvPr/>
        </p:nvSpPr>
        <p:spPr>
          <a:xfrm>
            <a:off x="914400" y="46177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Pruned CART engagement categories, attendance forecasting, explanations and leader-reviewed follow-up recommendations.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FE7C51-C2A8-4134-845A-C513936DA9BD}"/>
              </a:ext>
            </a:extLst>
          </p:cNvPr>
          <p:cNvSpPr>
            <a:spLocks noGrp="1"/>
          </p:cNvSpPr>
          <p:nvPr/>
        </p:nvSpPr>
        <p:spPr>
          <a:xfrm>
            <a:off x="6217920" y="3931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837518-540E-4A8B-AB81-EAEF51EF4475}"/>
              </a:ext>
            </a:extLst>
          </p:cNvPr>
          <p:cNvSpPr>
            <a:spLocks noGrp="1"/>
          </p:cNvSpPr>
          <p:nvPr/>
        </p:nvSpPr>
        <p:spPr>
          <a:xfrm>
            <a:off x="6217920" y="3931920"/>
            <a:ext cx="73152" cy="18288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760FA-E3F0-4841-8C58-547D42052D0F}"/>
              </a:ext>
            </a:extLst>
          </p:cNvPr>
          <p:cNvSpPr>
            <a:spLocks noGrp="1"/>
          </p:cNvSpPr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Feedback &amp; Evaluation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1554D0-557F-4334-BE24-24D7B9FDDA9E}"/>
              </a:ext>
            </a:extLst>
          </p:cNvPr>
          <p:cNvSpPr>
            <a:spLocks noGrp="1"/>
          </p:cNvSpPr>
          <p:nvPr/>
        </p:nvSpPr>
        <p:spPr>
          <a:xfrm>
            <a:off x="6492240" y="46177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Consent-aware system feedback, sentiment analysis, software-quality evaluation and audit records. Staffing or servant assignment recommendations are outside the current system.</a:t>
            </a:r>
          </a:p>
        </p:txBody>
      </p:sp>
    </p:spTree>
    <p:extLst>
      <p:ext uri="{BB962C8B-B14F-4D97-AF65-F5344CB8AC3E}">
        <p14:creationId xmlns:p14="http://schemas.microsoft.com/office/powerpoint/2010/main" val="63179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926FEA-6AE2-4C2A-9A64-768C252CAE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11FD3-AAF3-423F-B648-0E86F12AEC06}"/>
              </a:ext>
            </a:extLst>
          </p:cNvPr>
          <p:cNvSpPr>
            <a:spLocks noGrp="1"/>
          </p:cNvSpPr>
          <p:nvPr/>
        </p:nvSpPr>
        <p:spPr>
          <a:xfrm>
            <a:off x="822960" y="21031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7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69411-8A50-4061-A1FA-0739AC7B742A}"/>
              </a:ext>
            </a:extLst>
          </p:cNvPr>
          <p:cNvSpPr>
            <a:spLocks noGrp="1"/>
          </p:cNvSpPr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4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51541-4C91-4E48-B502-1155EF206C84}"/>
              </a:ext>
            </a:extLst>
          </p:cNvPr>
          <p:cNvSpPr>
            <a:spLocks noGrp="1"/>
          </p:cNvSpPr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Statement of the problems</a:t>
            </a:r>
          </a:p>
        </p:txBody>
      </p:sp>
    </p:spTree>
    <p:extLst>
      <p:ext uri="{BB962C8B-B14F-4D97-AF65-F5344CB8AC3E}">
        <p14:creationId xmlns:p14="http://schemas.microsoft.com/office/powerpoint/2010/main" val="107581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426651-1E16-4461-A70B-23183DE598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AFD40-4449-4520-97C3-4BE5FA195E22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835CF-3B74-4C21-967D-44FAFD328553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Statement of the Problems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0D183D-31CF-434E-B5C6-C355A4661A7C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8DFBF-BD9A-4445-9909-8164AED1F0EC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909FA-F13D-41E3-ACEF-920ABCD7F17F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48F58-C32B-4341-9C64-C7E544C5FB59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57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study examined the current workflow, required system features, analytical methods and system quality. The nine SOPs below trace each research question to its evidence and result.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5B541F-82ED-483B-B637-C6373ED1C54F}"/>
              </a:ext>
            </a:extLst>
          </p:cNvPr>
          <p:cNvSpPr>
            <a:spLocks noGrp="1"/>
          </p:cNvSpPr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63BB2-F25B-4431-8B5E-300C16F9A3EF}"/>
              </a:ext>
            </a:extLst>
          </p:cNvPr>
          <p:cNvSpPr>
            <a:spLocks noGrp="1"/>
          </p:cNvSpPr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55F8A-7700-4E4A-9D46-F1DE7DD91EBF}"/>
              </a:ext>
            </a:extLst>
          </p:cNvPr>
          <p:cNvSpPr>
            <a:spLocks noGrp="1"/>
          </p:cNvSpPr>
          <p:nvPr/>
        </p:nvSpPr>
        <p:spPr>
          <a:xfrm>
            <a:off x="1371600" y="247802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1  Workflow challenges: seeker records, follow-ups, engagement, feedback and reporting.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FA6287-3561-414A-8933-22B2351FBE8F}"/>
              </a:ext>
            </a:extLst>
          </p:cNvPr>
          <p:cNvSpPr>
            <a:spLocks noGrp="1"/>
          </p:cNvSpPr>
          <p:nvPr/>
        </p:nvSpPr>
        <p:spPr>
          <a:xfrm>
            <a:off x="640080" y="3191256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B8247-BAE0-4D2E-A19C-AE45DE05D4CA}"/>
              </a:ext>
            </a:extLst>
          </p:cNvPr>
          <p:cNvSpPr>
            <a:spLocks noGrp="1"/>
          </p:cNvSpPr>
          <p:nvPr/>
        </p:nvSpPr>
        <p:spPr>
          <a:xfrm>
            <a:off x="640080" y="319125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757F7-BCCD-4098-8A76-B7692A64449A}"/>
              </a:ext>
            </a:extLst>
          </p:cNvPr>
          <p:cNvSpPr>
            <a:spLocks noGrp="1"/>
          </p:cNvSpPr>
          <p:nvPr/>
        </p:nvSpPr>
        <p:spPr>
          <a:xfrm>
            <a:off x="1371600" y="32461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2  Required features: record management, analytics, recommendations, feedback and access.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B898E5-DD34-498E-9F50-3F445783C7AA}"/>
              </a:ext>
            </a:extLst>
          </p:cNvPr>
          <p:cNvSpPr>
            <a:spLocks noGrp="1"/>
          </p:cNvSpPr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B4E71-BF1C-4767-8F39-C0A9DD72552F}"/>
              </a:ext>
            </a:extLst>
          </p:cNvPr>
          <p:cNvSpPr>
            <a:spLocks noGrp="1"/>
          </p:cNvSpPr>
          <p:nvPr/>
        </p:nvSpPr>
        <p:spPr>
          <a:xfrm>
            <a:off x="640080" y="39593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364FB0-9E36-4856-B38F-ED9801ACEC47}"/>
              </a:ext>
            </a:extLst>
          </p:cNvPr>
          <p:cNvSpPr>
            <a:spLocks noGrp="1"/>
          </p:cNvSpPr>
          <p:nvPr/>
        </p:nvSpPr>
        <p:spPr>
          <a:xfrm>
            <a:off x="1371600" y="401421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3–6  CART classification, sentiment analysis, explanations and human-reviewed recommendations.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B2EA54-8FEE-421B-B900-B8D985E18090}"/>
              </a:ext>
            </a:extLst>
          </p:cNvPr>
          <p:cNvSpPr>
            <a:spLocks noGrp="1"/>
          </p:cNvSpPr>
          <p:nvPr/>
        </p:nvSpPr>
        <p:spPr>
          <a:xfrm>
            <a:off x="640080" y="4727448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75A16B-00D8-4E7F-B235-0B8EED02FBDE}"/>
              </a:ext>
            </a:extLst>
          </p:cNvPr>
          <p:cNvSpPr>
            <a:spLocks noGrp="1"/>
          </p:cNvSpPr>
          <p:nvPr/>
        </p:nvSpPr>
        <p:spPr>
          <a:xfrm>
            <a:off x="640080" y="47274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745B13-F10A-4092-B59C-A5C656A7737F}"/>
              </a:ext>
            </a:extLst>
          </p:cNvPr>
          <p:cNvSpPr>
            <a:spLocks noGrp="1"/>
          </p:cNvSpPr>
          <p:nvPr/>
        </p:nvSpPr>
        <p:spPr>
          <a:xfrm>
            <a:off x="1371600" y="47823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7–8  CART and sentiment performance against reference labels.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6A3E66-7434-4B87-91DF-5C54937218F7}"/>
              </a:ext>
            </a:extLst>
          </p:cNvPr>
          <p:cNvSpPr>
            <a:spLocks noGrp="1"/>
          </p:cNvSpPr>
          <p:nvPr/>
        </p:nvSpPr>
        <p:spPr>
          <a:xfrm>
            <a:off x="640080" y="5495544"/>
            <a:ext cx="548640" cy="548640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B3A037-1A24-4493-B6AB-331637D80B9E}"/>
              </a:ext>
            </a:extLst>
          </p:cNvPr>
          <p:cNvSpPr>
            <a:spLocks noGrp="1"/>
          </p:cNvSpPr>
          <p:nvPr/>
        </p:nvSpPr>
        <p:spPr>
          <a:xfrm>
            <a:off x="640080" y="549554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7DB531-2E75-4413-8124-DC4A467B2B60}"/>
              </a:ext>
            </a:extLst>
          </p:cNvPr>
          <p:cNvSpPr>
            <a:spLocks noGrp="1"/>
          </p:cNvSpPr>
          <p:nvPr/>
        </p:nvSpPr>
        <p:spPr>
          <a:xfrm>
            <a:off x="1371600" y="55504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9  System acceptability using the approved software-quality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76281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5C46E7-DEE0-4F37-8A92-CE02B35D81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E0E49-2391-411E-8546-456E41C12B4C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D9036-BD7E-4790-A2BC-0FB887A1BD55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1  •  Current Challenges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94E40-C987-4370-8AA0-F88244612C62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F05D0-C0CE-412B-9825-DC46032B5793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6DF0C-1DAF-47C2-8CAF-6B7E532180D0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B8FEDF-231B-485E-B2DC-46790B1F0711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11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D0546-D89A-45E8-9738-60E41CFB3B56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Answered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BE618-0CA7-474B-A84C-646BB7D2BC82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What challenges affect seeker data, follow-up, engagement, feedback and reporting?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845A9-9D7F-4705-8E6A-DEDCB23ACAA0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Evidence from five stakeholder interviews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CC7065-F3A2-4E93-8116-373EC834B8E0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Records were distributed across spreadsheets, forms and messages.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Updates could be incomplete, inconsistent or delayed.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Follow-ups and recurring engagement changes needed manual monitoring.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Reports required consolidation and repeated validation.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55EBAE-8F72-46AD-9B17-2131EA8B7584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ADD9D0-950B-41E8-BA0B-7AA5BB22B385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11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BE52E-B1DB-466C-A418-36FD01E56E28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116B34"/>
                </a:solidFill>
                <a:latin typeface="Segoe UI"/>
                <a:ea typeface="Segoe UI"/>
                <a:cs typeface="Segoe UI"/>
              </a:rPr>
              <a:t>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A7A2D0-3A7E-4A02-9622-0171A4195100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five purposively selected stakeholders described the same core need: centralized records, consistent fields, structured follow-up history, role-scoped views and consolidated reports. These interviews describe the selected unit and are not statistically generalizable.</a:t>
            </a:r>
          </a:p>
        </p:txBody>
      </p:sp>
    </p:spTree>
    <p:extLst>
      <p:ext uri="{BB962C8B-B14F-4D97-AF65-F5344CB8AC3E}">
        <p14:creationId xmlns:p14="http://schemas.microsoft.com/office/powerpoint/2010/main" val="213396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1C5E18-C758-4968-82A0-3784B22B0F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1957-1FCF-4697-97D0-4F6DCF0E4B8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BCE86-E929-4613-A271-A89D481AF42C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2  •  System Requirements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598F2-8733-4408-93B0-D79FEF6B9F4A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645D0-552C-49F0-A3BA-1BA73A50F11A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54BC8-FC81-441C-B747-A0D7B4A3CE13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16108F-5F8A-46EB-B373-8BC2D7B96D3E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11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F17F9-0CAD-443A-AB33-5A3258AB6809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45EF5-B524-4E09-8074-A81BB827414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What features should the developed system provide?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0D480-AE36-41D1-A2E9-1DB058B0A14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Implemented capabilities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C7540-5CF1-4301-86B3-1D45A2AF2454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Seeker registration, source tracking, follow-up history and outcome workflow.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Member, satellite, D-Group, event and attendance records.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Engagement classification, explanations and leader-reviewed recommendations.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System-evaluation feedback and sentiment analysis.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Dashboards, reports, role-based access and audit records.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569DE3-3D02-42DA-869D-E4BE001DC0FF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DB0D7-1E26-40E6-BDC1-B010A2161492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11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D283D-9332-4484-BA10-B189D1DD2253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116B34"/>
                </a:solidFill>
                <a:latin typeface="Segoe UI"/>
                <a:ea typeface="Segoe UI"/>
                <a:cs typeface="Segoe UI"/>
              </a:rPr>
              <a:t>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87CB03-2B18-4A9A-BA79-E8754A74363D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system centralizes the listed administrative and decision-support workflows. Analytical results remain subject to authorized human review; staffing recommendations and automated contact, discipline or exclusion are not part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33935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7E6129-CAB9-411C-8786-5D02FEC92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D377B-D22F-4CA6-9654-C24F9E600732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D9462-9CFD-4DBA-82FC-3239F261E101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3  •  Engagement Classification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20657-282E-4286-91A2-42CC6307039D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A06BC-E2D2-4300-A9D1-D78D66F4C7EB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1055-4556-43EE-A61A-0886EE985AF0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06F1CC0-9585-4BAD-BC15-2D63CDBFE87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7BDFE-E77A-4CA1-BBA1-1F66E5D1CAC9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Partially 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FE8E8C-A9AB-4B7B-AEBF-6D76386C2268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can pruned CART classify members into the approved engagement categories?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F43C8-68B7-466A-8CD0-66D594EA7BB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Model and evaluation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2F284-0EA7-4F3C-93A2-63FA16CEFC5E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Categories: Active, Moderately Active, Possible Need for Follow-Up.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206 reviewed records; 200 eligible after six “Needs Clarification” records were excluded.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Pruned CART; stratified 80/20 split and five-fold CV on training data.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Model outputs include the decision path and recorded contributing factors.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5EA78DA-E6B0-42AD-8478-358C0BDA956C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8F7E0-8678-4B17-BE30-79FCAFCF73AB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99A29D-BF8C-4D7E-BCED-97B09308B805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A5913C-6D4E-44EF-A7C2-9C3F5CB543ED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method and explanations were implemented, but test performance did not beat the majority baseline. Treat results as an interpretable research baseline, not a reliable individual-level decision.</a:t>
            </a:r>
          </a:p>
        </p:txBody>
      </p:sp>
    </p:spTree>
    <p:extLst>
      <p:ext uri="{BB962C8B-B14F-4D97-AF65-F5344CB8AC3E}">
        <p14:creationId xmlns:p14="http://schemas.microsoft.com/office/powerpoint/2010/main" val="725217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F266AB-FC90-462E-9DCA-3F4DDEBA9A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8FEC0-B1C0-4146-9014-7A78AFD7C1E1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4E7EA-2BC3-449E-8EAB-46B795861A2B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4  •  Feedback Sentiment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4E231-30F6-4CCB-AFCB-4CED3D244C74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DDEA9-D799-4C4E-A357-9C724B07F37F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24649-4323-4274-A5BB-5CCCE08225D9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01819A-0819-482A-AA68-9856E3A3983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EE950-FD68-43EE-9EE5-2183E5A87A9C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Partially 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A23461-661A-4EDE-A8FE-3147D112EE2E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does sentiment analysis classify consented English, Filipino and Filipino-English feedback?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3812D-2811-4A37-B226-5E97B90AA7B7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Method and reference cohort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536233-1E79-4AEC-92BF-63DDFA12AF88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Explainable rule-based sentiment with negation handling.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Labels: Positive, Neutral and Negative; confidence and explanation are shown.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Ten human-reviewed units: six Positive, one Neutral and three Negative.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Six units were primarily English; four were Filipino-English; none Filipino-only.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F1FD8D-2D22-4F62-88C5-624D7445F4C8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EC9B8A-8C57-479F-ACCC-368A758D8083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FA00C7-2006-44AE-9BF2-6D92E9F5E22C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C455A-9E6B-4296-9CC2-D3943BE89108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Eight of ten units matched the human reference (80.00% accuracy). The small cohort and uneven class results limit generalization; Filipino-only performance could not be evaluated. Sentiment applies to system feedback, not seeker follow-up notes.</a:t>
            </a:r>
          </a:p>
        </p:txBody>
      </p:sp>
    </p:spTree>
    <p:extLst>
      <p:ext uri="{BB962C8B-B14F-4D97-AF65-F5344CB8AC3E}">
        <p14:creationId xmlns:p14="http://schemas.microsoft.com/office/powerpoint/2010/main" val="197863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86C32-7539-4E9F-9BFF-02A6C8B51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9B424-5736-405A-BE6F-D46253D1E36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C9D36-6438-430F-A786-319C1373BAF5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5  •  Explainable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0C69E-9C8E-4271-AD7F-C87648C272F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82E9E-C2D5-421D-B65A-6217D5C3398D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8B271-F9A2-4AE3-901A-95FBB92A23DC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242F87-B528-4626-BF7B-CE02C26A6A2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589E-972D-433F-9C0C-F0F805B54318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55AED-4ED6-4026-B498-CDD276014524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can users understand the factors behind an engagement classification?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510A1-9C98-4B6C-BF11-18547D9950E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Explanation support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CAB33-307F-4F18-BBA6-3E224C0CE423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Shows the predicted category and the CART decision path.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Displays the approved recorded factors used by the model.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Includes model/version information and a human-review notice.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26D8B1-92E5-45D7-A4A0-343272EBA1A9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836723-97A0-47C4-8331-6AE967F250B0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23CB1-EC05-4951-8020-F44DB38F26B4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F694F-D12C-4F68-98F4-C9AABE3191F6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Functional evaluation confirmed traceability of the displayed result and its factors. An explanation improves transparency but does not establish that the prediction is correct.</a:t>
            </a:r>
          </a:p>
        </p:txBody>
      </p:sp>
    </p:spTree>
    <p:extLst>
      <p:ext uri="{BB962C8B-B14F-4D97-AF65-F5344CB8AC3E}">
        <p14:creationId xmlns:p14="http://schemas.microsoft.com/office/powerpoint/2010/main" val="2007802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86C32-7539-4E9F-9BFF-02A6C8B51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9B424-5736-405A-BE6F-D46253D1E36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C9D36-6438-430F-A786-319C1373BAF5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6  •  Human-Reviewed Recommendations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0C69E-9C8E-4271-AD7F-C87648C272F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82E9E-C2D5-421D-B65A-6217D5C3398D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8B271-F9A2-4AE3-901A-95FBB92A23DC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242F87-B528-4626-BF7B-CE02C26A6A2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589E-972D-433F-9C0C-F0F805B54318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55AED-4ED6-4026-B498-CDD276014524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can follow-up recommendations support authorized review without acting automatically?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510A1-9C98-4B6C-BF11-18547D9950E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Recommendation workflow safeguards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CAB33-307F-4F18-BBA6-3E224C0CE423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Generates a recommendation for authorized review.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Supports approval, modification or rejection.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Applies access restrictions and audit logging.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Prohibits automatic contact, discipline or exclusion.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26D8B1-92E5-45D7-A4A0-343272EBA1A9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836723-97A0-47C4-8331-6AE967F250B0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23CB1-EC05-4951-8020-F44DB38F26B4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F694F-D12C-4F68-98F4-C9AABE3191F6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All seven tested workflow conditions passed in the test environment. This verifies system behavior only; it does not demonstrate live intervention outcomes.</a:t>
            </a:r>
          </a:p>
        </p:txBody>
      </p:sp>
    </p:spTree>
    <p:extLst>
      <p:ext uri="{BB962C8B-B14F-4D97-AF65-F5344CB8AC3E}">
        <p14:creationId xmlns:p14="http://schemas.microsoft.com/office/powerpoint/2010/main" val="2007802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86C32-7539-4E9F-9BFF-02A6C8B51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9B424-5736-405A-BE6F-D46253D1E36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C9D36-6438-430F-A786-319C1373BAF5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7  •  CART Model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0C69E-9C8E-4271-AD7F-C87648C272F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82E9E-C2D5-421D-B65A-6217D5C3398D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8B271-F9A2-4AE3-901A-95FBB92A23DC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242F87-B528-4626-BF7B-CE02C26A6A2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589E-972D-433F-9C0C-F0F805B54318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Partially 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55AED-4ED6-4026-B498-CDD276014524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What are the CART model’s accuracy, precision, recall, F1-score and confusion-matrix results?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510A1-9C98-4B6C-BF11-18547D9950E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Held-out results (40 records)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CAB33-307F-4F18-BBA6-3E224C0CE423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Accuracy: 52.50%; majority baseline: 55.00%.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Active: precision 55.56%, recall 90.91%, F1 68.97%.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Moderately Active: weak performance.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Possible Need for Follow-Up: precision, recall and F1 all 0%.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Macro F1: 26.91%; weighted F1: 41.75%.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26D8B1-92E5-45D7-A4A0-343272EBA1A9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836723-97A0-47C4-8331-6AE967F250B0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23CB1-EC05-4951-8020-F44DB38F26B4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F694F-D12C-4F68-98F4-C9AABE3191F6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CART model trails the baseline by 2.50 points and misses the entire follow-up class in the test set. Model review and more representative verified data are required before operational reliance.</a:t>
            </a:r>
          </a:p>
        </p:txBody>
      </p:sp>
    </p:spTree>
    <p:extLst>
      <p:ext uri="{BB962C8B-B14F-4D97-AF65-F5344CB8AC3E}">
        <p14:creationId xmlns:p14="http://schemas.microsoft.com/office/powerpoint/2010/main" val="200780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86C32-7539-4E9F-9BFF-02A6C8B51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9B424-5736-405A-BE6F-D46253D1E36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C9D36-6438-430F-A786-319C1373BAF5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8  •  Sentiment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0C69E-9C8E-4271-AD7F-C87648C272F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82E9E-C2D5-421D-B65A-6217D5C3398D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8B271-F9A2-4AE3-901A-95FBB92A23DC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242F87-B528-4626-BF7B-CE02C26A6A2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589E-972D-433F-9C0C-F0F805B54318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Partially 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55AED-4ED6-4026-B498-CDD276014524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well does sentiment classification match manually labelled system feedback?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510A1-9C98-4B6C-BF11-18547D9950E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Ten reviewed analysis units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CAB33-307F-4F18-BBA6-3E224C0CE423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Accuracy: 80.00%; macro F1: 57.44%; weighted F1: 79.38%.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Positive: precision 85.71%, recall 100%, F1 92.31%.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Neutral: one reference item was misclassified (all metrics 0%).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Negative: precision 100%, recall 66.67%, F1 80.00%.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English accuracy 83.33%; Filipino-English 75.00%.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26D8B1-92E5-45D7-A4A0-343272EBA1A9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836723-97A0-47C4-8331-6AE967F250B0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23CB1-EC05-4951-8020-F44DB38F26B4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F694F-D12C-4F68-98F4-C9AABE3191F6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Results are preliminary because the cohort is small and imbalanced. No eligible Filipino-only observation was available, so that subgroup is not evaluated.</a:t>
            </a:r>
          </a:p>
        </p:txBody>
      </p:sp>
    </p:spTree>
    <p:extLst>
      <p:ext uri="{BB962C8B-B14F-4D97-AF65-F5344CB8AC3E}">
        <p14:creationId xmlns:p14="http://schemas.microsoft.com/office/powerpoint/2010/main" val="2007802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86C32-7539-4E9F-9BFF-02A6C8B51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9B424-5736-405A-BE6F-D46253D1E36D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DISCUSS THE SOPS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C9D36-6438-430F-A786-319C1373BAF5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SOP 9  •  System Acceptability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0C69E-9C8E-4271-AD7F-C87648C272F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82E9E-C2D5-421D-B65A-6217D5C3398D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8B271-F9A2-4AE3-901A-95FBB92A23DC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242F87-B528-4626-BF7B-CE02C26A6A22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ound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589E-972D-433F-9C0C-F0F805B54318}"/>
              </a:ext>
            </a:extLst>
          </p:cNvPr>
          <p:cNvSpPr>
            <a:spLocks noGrp="1"/>
          </p:cNvSpPr>
          <p:nvPr/>
        </p:nvSpPr>
        <p:spPr>
          <a:xfrm>
            <a:off x="9144000" y="7315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Addressed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55AED-4ED6-4026-B498-CDD276014524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What is the developed system’s acceptability under the approved software-quality characteristics?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510A1-9C98-4B6C-BF11-18547D9950EB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Evaluation by six respondents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CAB33-307F-4F18-BBA6-3E224C0CE423}"/>
              </a:ext>
            </a:extLst>
          </p:cNvPr>
          <p:cNvSpPr>
            <a:spLocks noGrp="1"/>
          </p:cNvSpPr>
          <p:nvPr/>
        </p:nvSpPr>
        <p:spPr>
          <a:xfrm>
            <a:off x="640080" y="310896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15 items across Functionality, Reliability, Usability, Efficiency, Portability and Maintainability.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Four-point agreement scale; 90 item ratings.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Overall weighted mean: 3.49 / 4.00 (Strongly Agree).</a:t>
            </a: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Highest: Maintainability 3.67; lowest: Usability 3.29.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26D8B1-92E5-45D7-A4A0-343272EBA1A9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836723-97A0-47C4-8331-6AE967F250B0}"/>
              </a:ext>
            </a:extLst>
          </p:cNvPr>
          <p:cNvSpPr>
            <a:spLocks noGrp="1"/>
          </p:cNvSpPr>
          <p:nvPr/>
        </p:nvSpPr>
        <p:spPr>
          <a:xfrm>
            <a:off x="7040880" y="2651760"/>
            <a:ext cx="73152" cy="3383280"/>
          </a:xfrm>
          <a:prstGeom prst="rect">
            <a:avLst/>
          </a:prstGeom>
          <a:solidFill>
            <a:srgbClr val="8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23CB1-EC05-4951-8020-F44DB38F26B4}"/>
              </a:ext>
            </a:extLst>
          </p:cNvPr>
          <p:cNvSpPr>
            <a:spLocks noGrp="1"/>
          </p:cNvSpPr>
          <p:nvPr/>
        </p:nvSpPr>
        <p:spPr>
          <a:xfrm>
            <a:off x="731520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805000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F694F-D12C-4F68-98F4-C9AABE3191F6}"/>
              </a:ext>
            </a:extLst>
          </p:cNvPr>
          <p:cNvSpPr>
            <a:spLocks noGrp="1"/>
          </p:cNvSpPr>
          <p:nvPr/>
        </p:nvSpPr>
        <p:spPr>
          <a:xfrm>
            <a:off x="7315200" y="33375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Evaluators gave a generally favorable software-quality assessment. This result is separate from predictive accuracy and does not establish ministry impact.</a:t>
            </a:r>
          </a:p>
        </p:txBody>
      </p:sp>
    </p:spTree>
    <p:extLst>
      <p:ext uri="{BB962C8B-B14F-4D97-AF65-F5344CB8AC3E}">
        <p14:creationId xmlns:p14="http://schemas.microsoft.com/office/powerpoint/2010/main" val="2007802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59C99-32D8-484C-97CA-75F33946C9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4BA79-6C30-43B6-8518-80FE3A962C9C}"/>
              </a:ext>
            </a:extLst>
          </p:cNvPr>
          <p:cNvSpPr>
            <a:spLocks noGrp="1"/>
          </p:cNvSpPr>
          <p:nvPr/>
        </p:nvSpPr>
        <p:spPr>
          <a:xfrm>
            <a:off x="822960" y="210312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7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FCF41-F42E-44D9-B85B-AFE728BF4AA1}"/>
              </a:ext>
            </a:extLst>
          </p:cNvPr>
          <p:cNvSpPr>
            <a:spLocks noGrp="1"/>
          </p:cNvSpPr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4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C62BC-E04A-4140-B66E-E39274A78BAE}"/>
              </a:ext>
            </a:extLst>
          </p:cNvPr>
          <p:cNvSpPr>
            <a:spLocks noGrp="1"/>
          </p:cNvSpPr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What the study established</a:t>
            </a:r>
          </a:p>
        </p:txBody>
      </p:sp>
    </p:spTree>
    <p:extLst>
      <p:ext uri="{BB962C8B-B14F-4D97-AF65-F5344CB8AC3E}">
        <p14:creationId xmlns:p14="http://schemas.microsoft.com/office/powerpoint/2010/main" val="1079620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7D3E6A-B1AD-42E7-918F-D1238AB312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775A1-93F8-428E-A270-22E9D69BA809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EAD6F-166F-4BAF-A69F-E09211916D08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50297D-577D-4F1E-9F7F-1BA96DD6C132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61025-C8A3-4210-8443-BAF4CED4BC68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05469-3C48-40C1-9B80-19F1A47E402D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ACEDF-2BF0-4710-825E-91F07F911D5E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The study identified fragmented records, manual follow-up and reporting as practical workflow challenges in the selected CCF Elevate unit.</a:t>
            </a:r>
          </a:p>
          <a:p>
            <a:pPr>
              <a:spcAft>
                <a:spcPts val="14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The developed role-based system centralizes records and supports seeker tracking, engagement review, reporting and human-reviewed recommendations.</a:t>
            </a:r>
          </a:p>
          <a:p>
            <a:pPr>
              <a:spcAft>
                <a:spcPts val="14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CART is explainable but underperforms the baseline (52.50% vs 55.00%) and fails to identify the Possible Need for Follow-Up test cases.</a:t>
            </a:r>
          </a:p>
          <a:p>
            <a:pPr>
              <a:spcAft>
                <a:spcPts val="14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Sentiment matched 8 of 10 reviewed units (80.00%); the small, imbalanced cohort limits confidence.</a:t>
            </a:r>
          </a:p>
          <a:p>
            <a:pPr>
              <a:spcAft>
                <a:spcPts val="1400"/>
              </a:spcAft>
              <a:buNone/>
            </a:pPr>
            <a:r>
              <a:rPr sz="18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Six evaluators rated software quality favorably (3.49/4.00). Operational usefulness is supported; predictive readiness and ministry impact are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1943179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AB2FAF-9AE4-4D6C-969D-787928DD2B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90732-FCBF-4924-97A4-8CFD4B365714}"/>
              </a:ext>
            </a:extLst>
          </p:cNvPr>
          <p:cNvSpPr>
            <a:spLocks noGrp="1"/>
          </p:cNvSpPr>
          <p:nvPr/>
        </p:nvSpPr>
        <p:spPr>
          <a:xfrm>
            <a:off x="822960" y="210312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7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2EC69-8852-4951-AB8C-54E8F20BC9EC}"/>
              </a:ext>
            </a:extLst>
          </p:cNvPr>
          <p:cNvSpPr>
            <a:spLocks noGrp="1"/>
          </p:cNvSpPr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4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Recommendation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D5204-BFD0-4164-BD0B-68B303A07CFC}"/>
              </a:ext>
            </a:extLst>
          </p:cNvPr>
          <p:cNvSpPr>
            <a:spLocks noGrp="1"/>
          </p:cNvSpPr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Next steps for the ministry and future researchers</a:t>
            </a:r>
          </a:p>
        </p:txBody>
      </p:sp>
    </p:spTree>
    <p:extLst>
      <p:ext uri="{BB962C8B-B14F-4D97-AF65-F5344CB8AC3E}">
        <p14:creationId xmlns:p14="http://schemas.microsoft.com/office/powerpoint/2010/main" val="1076921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250E57-74D5-4A88-BE27-08D915E6C4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FC17D-AB33-4A20-A623-B7628A104018}"/>
              </a:ext>
            </a:extLst>
          </p:cNvPr>
          <p:cNvSpPr>
            <a:spLocks noGrp="1"/>
          </p:cNvSpPr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7DEC5-1879-49AE-92AA-F0653FD10BCB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Recommendations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257C92-9DDB-4FF6-8427-1E4F9521565E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6FBBA-1B6A-42E3-9678-280DD5F9C316}"/>
              </a:ext>
            </a:extLst>
          </p:cNvPr>
          <p:cNvSpPr>
            <a:spLocks noGrp="1"/>
          </p:cNvSpPr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Elevate DGM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F1181-7D44-4C75-98E0-9D21E58A1B5E}"/>
              </a:ext>
            </a:extLst>
          </p:cNvPr>
          <p:cNvSpPr>
            <a:spLocks noGrp="1"/>
          </p:cNvSpPr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8897FC-CE45-4562-B4F4-4B101D989615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C5D33-3C15-4C63-840B-C782AB05C2B7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73152" cy="4206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3D815-0F50-464A-AAFF-8841A8EE60A0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For the Ministry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62393-CDC6-4840-B1F2-E30C440A90FB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Record seeker sources, outcomes, follow-ups and attendance consistently; verify updates before using analytics.</a:t>
            </a:r>
          </a:p>
          <a:p>
            <a:pPr algn="l">
              <a:buNone/>
            </a:pPr>
            <a:endParaRPr sz="1500" b="0">
              <a:solidFill>
                <a:srgbClr val="1F2937"/>
              </a:solidFill>
              <a:latin typeface="Segoe UI"/>
              <a:ea typeface="Segoe UI"/>
              <a:cs typeface="Segoe UI"/>
            </a:endParaRPr>
          </a:p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Review engagement explanations with leaders and treat labels as prompts for human consideration.</a:t>
            </a:r>
          </a:p>
          <a:p>
            <a:pPr algn="l">
              <a:buNone/>
            </a:pPr>
            <a:endParaRPr sz="1500" b="0">
              <a:solidFill>
                <a:srgbClr val="1F2937"/>
              </a:solidFill>
              <a:latin typeface="Segoe UI"/>
              <a:ea typeface="Segoe UI"/>
              <a:cs typeface="Segoe UI"/>
            </a:endParaRPr>
          </a:p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Collect a larger, consented and balanced feedback cohort, including Filipino-only responses.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72B3FB-D460-4CFA-97D4-8D915BEF37DB}"/>
              </a:ext>
            </a:extLst>
          </p:cNvPr>
          <p:cNvSpPr>
            <a:spLocks noGrp="1"/>
          </p:cNvSpPr>
          <p:nvPr/>
        </p:nvSpPr>
        <p:spPr>
          <a:xfrm>
            <a:off x="4389120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6E9E2-8503-4EAC-810F-24819F10D1E7}"/>
              </a:ext>
            </a:extLst>
          </p:cNvPr>
          <p:cNvSpPr>
            <a:spLocks noGrp="1"/>
          </p:cNvSpPr>
          <p:nvPr/>
        </p:nvSpPr>
        <p:spPr>
          <a:xfrm>
            <a:off x="4389120" y="1828800"/>
            <a:ext cx="73152" cy="4206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3DFCE-4D81-4CB3-A36B-EE3463695B5C}"/>
              </a:ext>
            </a:extLst>
          </p:cNvPr>
          <p:cNvSpPr>
            <a:spLocks noGrp="1"/>
          </p:cNvSpPr>
          <p:nvPr/>
        </p:nvSpPr>
        <p:spPr>
          <a:xfrm>
            <a:off x="4663440" y="20116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For the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38939-7713-44ED-884D-5504A01E615A}"/>
              </a:ext>
            </a:extLst>
          </p:cNvPr>
          <p:cNvSpPr>
            <a:spLocks noGrp="1"/>
          </p:cNvSpPr>
          <p:nvPr/>
        </p:nvSpPr>
        <p:spPr>
          <a:xfrm>
            <a:off x="4663440" y="251460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Reassess CART features, labels and class balance; compare against simple baselines and other models using a held-out test set.</a:t>
            </a:r>
          </a:p>
          <a:p>
            <a:pPr algn="l">
              <a:buNone/>
            </a:pPr>
            <a:endParaRPr sz="1500" b="0">
              <a:solidFill>
                <a:srgbClr val="1F2937"/>
              </a:solidFill>
              <a:latin typeface="Segoe UI"/>
              <a:ea typeface="Segoe UI"/>
              <a:cs typeface="Segoe UI"/>
            </a:endParaRPr>
          </a:p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Re-evaluate sentiment by class and language with independent human labels.</a:t>
            </a:r>
          </a:p>
          <a:p>
            <a:pPr algn="l">
              <a:buNone/>
            </a:pPr>
            <a:endParaRPr sz="1500" b="0">
              <a:solidFill>
                <a:srgbClr val="1F2937"/>
              </a:solidFill>
              <a:latin typeface="Segoe UI"/>
              <a:ea typeface="Segoe UI"/>
              <a:cs typeface="Segoe UI"/>
            </a:endParaRPr>
          </a:p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Complete routine quality assurance, audit logging and reporting based on user feedback.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615E50-3F09-4564-957F-CDE02B993C14}"/>
              </a:ext>
            </a:extLst>
          </p:cNvPr>
          <p:cNvSpPr>
            <a:spLocks noGrp="1"/>
          </p:cNvSpPr>
          <p:nvPr/>
        </p:nvSpPr>
        <p:spPr>
          <a:xfrm>
            <a:off x="8138159" y="182880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8EA729-1123-41AE-8C95-E33EC7655C60}"/>
              </a:ext>
            </a:extLst>
          </p:cNvPr>
          <p:cNvSpPr>
            <a:spLocks noGrp="1"/>
          </p:cNvSpPr>
          <p:nvPr/>
        </p:nvSpPr>
        <p:spPr>
          <a:xfrm>
            <a:off x="8138159" y="1828800"/>
            <a:ext cx="73152" cy="4206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93B6BC-4B30-45E8-A77B-0F914606DFBB}"/>
              </a:ext>
            </a:extLst>
          </p:cNvPr>
          <p:cNvSpPr>
            <a:spLocks noGrp="1"/>
          </p:cNvSpPr>
          <p:nvPr/>
        </p:nvSpPr>
        <p:spPr>
          <a:xfrm>
            <a:off x="8412479" y="20116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B42318"/>
                </a:solidFill>
                <a:latin typeface="Segoe UI"/>
                <a:ea typeface="Segoe UI"/>
                <a:cs typeface="Segoe UI"/>
              </a:rPr>
              <a:t>For Future Researchers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7EF9B-E379-4C80-9FB2-802747477AB7}"/>
              </a:ext>
            </a:extLst>
          </p:cNvPr>
          <p:cNvSpPr>
            <a:spLocks noGrp="1"/>
          </p:cNvSpPr>
          <p:nvPr/>
        </p:nvSpPr>
        <p:spPr>
          <a:xfrm>
            <a:off x="8412479" y="2514600"/>
            <a:ext cx="3063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Validate results with additional satellites and a larger time range.</a:t>
            </a:r>
          </a:p>
          <a:p>
            <a:pPr algn="l">
              <a:buNone/>
            </a:pPr>
            <a:endParaRPr sz="1500" b="0">
              <a:solidFill>
                <a:srgbClr val="1F2937"/>
              </a:solidFill>
              <a:latin typeface="Segoe UI"/>
              <a:ea typeface="Segoe UI"/>
              <a:cs typeface="Segoe UI"/>
            </a:endParaRPr>
          </a:p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Study Filipino-English language handling and alternative sentiment methods.</a:t>
            </a:r>
          </a:p>
          <a:p>
            <a:pPr algn="l">
              <a:buNone/>
            </a:pPr>
            <a:endParaRPr sz="1500" b="0">
              <a:solidFill>
                <a:srgbClr val="1F2937"/>
              </a:solidFill>
              <a:latin typeface="Segoe UI"/>
              <a:ea typeface="Segoe UI"/>
              <a:cs typeface="Segoe UI"/>
            </a:endParaRPr>
          </a:p>
          <a:p>
            <a:pPr algn="l">
              <a:buNone/>
            </a:pPr>
            <a:r>
              <a:rPr sz="150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•  Evaluate long-term outcomes separately; develop mobile access or servant-management functions only as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055530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97F7B2-75A1-429D-8A1C-5163F08BF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B7874-D014-4AB2-9140-0DF54C8DE0AC}"/>
              </a:ext>
            </a:extLst>
          </p:cNvPr>
          <p:cNvSpPr>
            <a:spLocks noGrp="1"/>
          </p:cNvSpPr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6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F552E-6E0B-47BE-B5C7-9CF26B15E2D5}"/>
              </a:ext>
            </a:extLst>
          </p:cNvPr>
          <p:cNvSpPr>
            <a:spLocks noGrp="1"/>
          </p:cNvSpPr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6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Questions &amp; Answers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976A8-CEEB-4FD3-BFF7-7A435B364157}"/>
              </a:ext>
            </a:extLst>
          </p:cNvPr>
          <p:cNvSpPr>
            <a:spLocks noGrp="1"/>
          </p:cNvSpPr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600" b="0">
                <a:solidFill>
                  <a:srgbClr val="FFF4F2"/>
                </a:solidFill>
                <a:latin typeface="Segoe UI"/>
                <a:ea typeface="Segoe UI"/>
                <a:cs typeface="Segoe UI"/>
              </a:rPr>
              <a:t>Elevate DGM  •  David Andrei R. Alvis  •  Warren V. Pagsuyuin  •  Xerxes Jan R. Torralba</a:t>
            </a:r>
          </a:p>
        </p:txBody>
      </p:sp>
    </p:spTree>
    <p:extLst>
      <p:ext uri="{BB962C8B-B14F-4D97-AF65-F5344CB8AC3E}">
        <p14:creationId xmlns:p14="http://schemas.microsoft.com/office/powerpoint/2010/main" val="136830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1801</Words>
  <Application>Microsoft Office PowerPoint</Application>
  <DocSecurity>0</DocSecurity>
  <PresentationFormat>Widescreen</PresentationFormat>
  <Paragraphs>251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Calibri Light</vt:lpstr>
      <vt:lpstr>Segoe UI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WARREN PAGSUYUIN</cp:lastModifiedBy>
  <cp:revision>1</cp:revision>
  <dcterms:created xsi:type="dcterms:W3CDTF">2026-10-12T10:07:14Z</dcterms:created>
  <dcterms:modified xsi:type="dcterms:W3CDTF">2026-10-13T05:30:35Z</dcterms:modified>
</cp:coreProperties>
</file>