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ELEVATE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DGM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4F2"/>
                </a:solidFill>
                <a:latin typeface="Segoe UI"/>
              </a:rPr>
              <a:t>Thesis Final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737360"/>
            <a:ext cx="69494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Elevate Discipleship Group Management System: Predictive Analytics and Sentiment Analysis for Seeker Tracking and Member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34340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4572000"/>
            <a:ext cx="6949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Segoe UI"/>
              </a:rPr>
              <a:t>Presented by: [Group Name / Members]</a:t>
            </a:r>
          </a:p>
          <a:p>
            <a:pPr algn="l"/>
            <a:r>
              <a:rPr sz="1600" b="0">
                <a:solidFill>
                  <a:srgbClr val="667085"/>
                </a:solidFill>
                <a:latin typeface="Segoe UI"/>
              </a:rPr>
              <a:t>Adviser: [Adviser Name]</a:t>
            </a:r>
          </a:p>
          <a:p>
            <a:pPr algn="l"/>
            <a:r>
              <a:rPr sz="1600" b="0">
                <a:solidFill>
                  <a:srgbClr val="667085"/>
                </a:solidFill>
                <a:latin typeface="Segoe UI"/>
              </a:rPr>
              <a:t>[Course / Section]  •  [School]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Presentation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4708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Introduce the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6771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Segoe UI"/>
              </a:rPr>
              <a:t>The researchers behind the study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182880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4708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Introduce the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6771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Segoe UI"/>
              </a:rPr>
              <a:t>Background, purpose and scope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9184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3101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Discuss the SOPs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3075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Segoe UI"/>
              </a:rPr>
              <a:t>Statement of the problems and how each was answered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3291840"/>
            <a:ext cx="822960" cy="822960"/>
          </a:xfrm>
          <a:prstGeom prst="ellipse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2918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3101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67085"/>
                </a:solidFill>
                <a:latin typeface="Segoe UI"/>
              </a:rPr>
              <a:t>System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3075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Segoe UI"/>
              </a:rPr>
              <a:t>Live demonstration (file maintenance not included)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75488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77316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9379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Segoe UI"/>
              </a:rPr>
              <a:t>What the study established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475488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754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77316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19379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Segoe UI"/>
              </a:rPr>
              <a:t>Next steps for the ministry and future researchers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Introduce the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4F2"/>
                </a:solidFill>
                <a:latin typeface="Segoe UI"/>
              </a:rPr>
              <a:t>Meet the researchers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INTRODUCE THE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The Research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2240280"/>
            <a:ext cx="1005840" cy="10058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2402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Segoe UI"/>
              </a:rPr>
              <a:t>[Member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Segoe UI"/>
              </a:rPr>
              <a:t>Project Manager / Researcher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92024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2240280"/>
            <a:ext cx="1005840" cy="10058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2402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20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Segoe UI"/>
              </a:rPr>
              <a:t>[Member 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690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Segoe UI"/>
              </a:rPr>
              <a:t>Lead Developer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95160" y="2240280"/>
            <a:ext cx="1005840" cy="10058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2402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20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Segoe UI"/>
              </a:rPr>
              <a:t>[Member Name]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0690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Segoe UI"/>
              </a:rPr>
              <a:t>Data Analyst / 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39" y="192024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79" y="2240280"/>
            <a:ext cx="1005840" cy="10058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79" y="22402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79" y="3520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Segoe UI"/>
              </a:rPr>
              <a:t>[Member Name]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79" y="40690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Segoe UI"/>
              </a:rPr>
              <a:t>Documentation /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Segoe UI"/>
              </a:rPr>
              <a:t>Adviser: [Adviser Name]     •     Partner organization: Elevate (Discipleship Groups ministry)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Introduce the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4F2"/>
                </a:solidFill>
                <a:latin typeface="Segoe UI"/>
              </a:rPr>
              <a:t>Elevate Discipleship Group Management System: Predictive Analytics and Sentiment Analysis for Seeker Tracking and Member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INTRODUCE THE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Background of the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Elevate runs Discipleship Groups (DGroups) across multiple satellites and hubs.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Seekers from outreach and registration forms were tracked in spreadsheets.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Member engagement and follow-up status were hard to monitor consistently.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Feedback and follow-up notes were unstructured and rarely analyzed.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Leaders needed one place to see who needs attention and why.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828800"/>
            <a:ext cx="4572000" cy="402336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828800"/>
            <a:ext cx="73152" cy="40233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2318"/>
                </a:solidFill>
                <a:latin typeface="Segoe UI"/>
              </a:rPr>
              <a:t>Purpose of the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51460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Develop a web-based DGroup management system that centralizes member and seeker records, tracks seekers through follow-up, predicts member engagement with an explainable model, and analyzes the sentiment of feedback to support ministry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INTRODUCE THE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Scope of the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18288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2318"/>
                </a:solidFill>
                <a:latin typeface="Segoe UI"/>
              </a:rPr>
              <a:t>Records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Segoe UI"/>
              </a:rPr>
              <a:t>Members, seekers, satellites, DGroup leaders and user roles.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18288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2318"/>
                </a:solidFill>
                <a:latin typeface="Segoe UI"/>
              </a:rPr>
              <a:t>Seeker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Segoe UI"/>
              </a:rPr>
              <a:t>Google Sheet sync, district assignment, follow-ups, status and auto-archive.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73152" cy="18288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2318"/>
                </a:solidFill>
                <a:latin typeface="Segoe UI"/>
              </a:rPr>
              <a:t>Predictive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Segoe UI"/>
              </a:rPr>
              <a:t>CART decision tree classifying engagement with explainable decision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73152" cy="18288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2318"/>
                </a:solidFill>
                <a:latin typeface="Segoe UI"/>
              </a:rPr>
              <a:t>Sentiment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1772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Segoe UI"/>
              </a:rPr>
              <a:t>Multilingual (English / Filipino / Taglish) lexicon-based sentiment on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Discuss the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4F2"/>
                </a:solidFill>
                <a:latin typeface="Segoe UI"/>
              </a:rPr>
              <a:t>Statement of the 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DISCUSS THE SOPS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Statement of the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Segoe UI"/>
              </a:rPr>
              <a:t>General problem: How can Elevate manage DGroups, track seekers and monitor member engagement using predictive analytics and sentiment analysis?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7802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How can the system centralize and manage member, seeker, satellite and DGroup records?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91256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9125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461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How can seekers be tracked from registration to assignment, follow-up and outcome?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1421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How accurately can a predictive model classify member engagement, and can it explain its result?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27448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274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823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How can sentiment analysis classify feedback and follow-up notes in English, Filipino and Taglish?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495544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9554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504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How do users evaluate the system in ease of use, usefulness, accessibility, reliability and satisfaction?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DISCUSS THE SOPS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SOP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11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How can the system centralize and manage member, seeker, satellite and DGroup records?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Segoe UI"/>
              </a:rPr>
              <a:t>How the study addressed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Role-based web system (Admin, Satellite / District, Leader, Member).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Central records for members, seekers, satellites and DGroup leaders.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CSV exports and dashboards per satellite and hub.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11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6B34"/>
                </a:solidFill>
                <a:latin typeface="Segoe UI"/>
              </a:rPr>
              <a:t>Key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•  206 member records across 6 satellites
•  28 active DGroup leaders, 149 active members
•  522 seeker records synced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DISCUSS THE SOPS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SOP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11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How can seekers be tracked from registration to assignment, follow-up and outcome?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Segoe UI"/>
              </a:rPr>
              <a:t>How the study addressed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Google Sheet synchronization of seeker registrations.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District and DGroup leader assignment with follow-up logging.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Non-pending (Successful / Unsuccessful) seekers move to Archive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11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6B34"/>
                </a:solidFill>
                <a:latin typeface="Segoe UI"/>
              </a:rPr>
              <a:t>Key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•  Complete tracking workflow implemented
•  All 522 seekers currently Pending
•  Conversion outcomes still to be recorded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DISCUSS THE SOPS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SOP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Partially 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How accurately can a predictive model classify member engagement, and can it explain its result?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Segoe UI"/>
              </a:rPr>
              <a:t>How the study addressed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CART (Gini) decision tree, 80/20 stratified split, 5-fold training-only CV.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Classes: Active, Moderately Active, Possible Need for Follow-Up.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Every result stores an explainable (XAI) decision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05000"/>
                </a:solidFill>
                <a:latin typeface="Segoe UI"/>
              </a:rPr>
              <a:t>Key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•  Held-out accuracy: 52.50%
•  Majority baseline: 55.00% (−2.50 pts)
•  Status: MODEL REVIEW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DISCUSS THE SOPS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SOP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Partially 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How can sentiment analysis classify feedback and follow-up notes in English, Filipino and Taglish?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Segoe UI"/>
              </a:rPr>
              <a:t>How the study addressed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Explainable Multilingual Sentiment Lexicon (rule-based, with negation handling).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Positive / Neutral / Negative with confidence and explanation.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Consent-aware: denied-consent feedback excluded from research.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05000"/>
                </a:solidFill>
                <a:latin typeface="Segoe UI"/>
              </a:rPr>
              <a:t>Key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•  Engine implemented and explainable
•  Eligible human-labeled cohort: 0
•  Accuracy: not yet testable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DISCUSS THE SOPS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SOP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Partially 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Segoe UI"/>
              </a:rPr>
              <a:t>How do users evaluate the system in ease of use, usefulness, accessibility, reliability and satisfaction?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Segoe UI"/>
              </a:rPr>
              <a:t>How the study addressed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In-system feedback form for satellite / non-admin users.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Five open-ended questions plus optional research consent.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•  Responses analyzed for sentiment and reviewed by researchers.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05000"/>
                </a:solidFill>
                <a:latin typeface="Segoe UI"/>
              </a:rPr>
              <a:t>Key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Segoe UI"/>
              </a:rPr>
              <a:t>•  5 submissions from 3 respondents
•  No numeric (Likert) ratings collected yet
•  Weighted means: pending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4F2"/>
                </a:solidFill>
                <a:latin typeface="Segoe UI"/>
              </a:rPr>
              <a:t>What the study established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Elevate DGM successfully centralizes members, seekers, satellites and DGroup leaders in one role-based system.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Seeker tracking is complete end-to-end: sync, assignment, follow-up, status and automatic archiving.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The CART engagement model is reproducible and explainable, but at 52.50% it does not yet beat the 55.00% baseline — it supports, not replaces, leader judgment.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The multilingual sentiment engine works and explains its labels; its accuracy cannot yet be claimed without a consented, human-labeled cohort.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•  Overall, the system is ready as an operational management tool, while its analytics require more verified data before being relied on for decisions.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4F2"/>
                </a:solidFill>
                <a:latin typeface="Segoe UI"/>
              </a:rPr>
              <a:t>Next steps for the ministry and future researchers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Segoe UI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Segoe UI"/>
              </a:rPr>
              <a:t>Elevate DGM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42062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2318"/>
                </a:solidFill>
                <a:latin typeface="Segoe UI"/>
              </a:rPr>
              <a:t>For the Ministry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Segoe UI"/>
              </a:rPr>
              <a:t>•  Record follow-ups, attendance and seeker outcomes consistently.
•  Have leaders verify engagement labels in the system.
•  Collect consented feedback from more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73152" cy="42062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2318"/>
                </a:solidFill>
                <a:latin typeface="Segoe UI"/>
              </a:rPr>
              <a:t>For the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1460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Segoe UI"/>
              </a:rPr>
              <a:t>•  Retrain and re-evaluate CART on human-verified data.
•  Add a numeric (Likert) evaluation questionnaire.
•  Add a general audit log and finish the reports module.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828800"/>
            <a:ext cx="73152" cy="42062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20116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2318"/>
                </a:solidFill>
                <a:latin typeface="Segoe UI"/>
              </a:rPr>
              <a:t>For Future Researchers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51460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Segoe UI"/>
              </a:rPr>
              <a:t>•  Compare CART with other models (e.g., Random Forest).
•  Test transformer-based Filipino/Taglish sentiment.
•  Validate the system across more satellites and hubs.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FFF4F2"/>
                </a:solidFill>
                <a:latin typeface="Segoe UI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4F2"/>
                </a:solidFill>
                <a:latin typeface="Segoe UI"/>
              </a:rPr>
              <a:t>Elevate DGM  •  [Group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